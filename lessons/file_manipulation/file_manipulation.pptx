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9" d="100"/>
          <a:sy n="99" d="100"/>
        </p:scale>
        <p:origin x="38" y="-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k Theisen" userId="023ba6ba5afe52ef" providerId="LiveId" clId="{FD811F20-4405-4AEA-B692-774165CA995D}"/>
    <pc:docChg chg="custSel delSld modSld">
      <pc:chgData name="Mark Theisen" userId="023ba6ba5afe52ef" providerId="LiveId" clId="{FD811F20-4405-4AEA-B692-774165CA995D}" dt="2026-06-10T15:48:44.582" v="4" actId="478"/>
      <pc:docMkLst>
        <pc:docMk/>
      </pc:docMkLst>
      <pc:sldChg chg="delSp mod">
        <pc:chgData name="Mark Theisen" userId="023ba6ba5afe52ef" providerId="LiveId" clId="{FD811F20-4405-4AEA-B692-774165CA995D}" dt="2026-06-10T15:48:44.582" v="4" actId="478"/>
        <pc:sldMkLst>
          <pc:docMk/>
          <pc:sldMk cId="0" sldId="266"/>
        </pc:sldMkLst>
        <pc:spChg chg="del">
          <ac:chgData name="Mark Theisen" userId="023ba6ba5afe52ef" providerId="LiveId" clId="{FD811F20-4405-4AEA-B692-774165CA995D}" dt="2026-06-10T15:48:44.582" v="4" actId="478"/>
          <ac:spMkLst>
            <pc:docMk/>
            <pc:sldMk cId="0" sldId="266"/>
            <ac:spMk id="4" creationId="{00000000-0000-0000-0000-000000000000}"/>
          </ac:spMkLst>
        </pc:spChg>
      </pc:sldChg>
      <pc:sldChg chg="del">
        <pc:chgData name="Mark Theisen" userId="023ba6ba5afe52ef" providerId="LiveId" clId="{FD811F20-4405-4AEA-B692-774165CA995D}" dt="2026-06-10T15:48:35.614" v="3" actId="47"/>
        <pc:sldMkLst>
          <pc:docMk/>
          <pc:sldMk cId="0" sldId="267"/>
        </pc:sldMkLst>
      </pc:sldChg>
      <pc:sldChg chg="delSp mod">
        <pc:chgData name="Mark Theisen" userId="023ba6ba5afe52ef" providerId="LiveId" clId="{FD811F20-4405-4AEA-B692-774165CA995D}" dt="2026-06-10T15:48:19.647" v="2" actId="478"/>
        <pc:sldMkLst>
          <pc:docMk/>
          <pc:sldMk cId="0" sldId="269"/>
        </pc:sldMkLst>
        <pc:spChg chg="del">
          <ac:chgData name="Mark Theisen" userId="023ba6ba5afe52ef" providerId="LiveId" clId="{FD811F20-4405-4AEA-B692-774165CA995D}" dt="2026-06-10T15:48:13.685" v="1" actId="478"/>
          <ac:spMkLst>
            <pc:docMk/>
            <pc:sldMk cId="0" sldId="269"/>
            <ac:spMk id="3" creationId="{00000000-0000-0000-0000-000000000000}"/>
          </ac:spMkLst>
        </pc:spChg>
        <pc:spChg chg="del">
          <ac:chgData name="Mark Theisen" userId="023ba6ba5afe52ef" providerId="LiveId" clId="{FD811F20-4405-4AEA-B692-774165CA995D}" dt="2026-06-10T15:48:11.369" v="0" actId="478"/>
          <ac:spMkLst>
            <pc:docMk/>
            <pc:sldMk cId="0" sldId="269"/>
            <ac:spMk id="4" creationId="{00000000-0000-0000-0000-000000000000}"/>
          </ac:spMkLst>
        </pc:spChg>
        <pc:spChg chg="del">
          <ac:chgData name="Mark Theisen" userId="023ba6ba5afe52ef" providerId="LiveId" clId="{FD811F20-4405-4AEA-B692-774165CA995D}" dt="2026-06-10T15:48:19.647" v="2" actId="478"/>
          <ac:spMkLst>
            <pc:docMk/>
            <pc:sldMk cId="0" sldId="269"/>
            <ac:spMk id="1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4812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1143000"/>
            <a:ext cx="5577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1E2A44"/>
                </a:solidFill>
              </a:rPr>
              <a:t>Python File</a:t>
            </a:r>
            <a:endParaRPr lang="en-US" sz="4300" dirty="0"/>
          </a:p>
          <a:p>
            <a:pPr marL="0" indent="0">
              <a:buNone/>
            </a:pPr>
            <a:r>
              <a:rPr lang="en-US" sz="4300" b="1" dirty="0">
                <a:solidFill>
                  <a:srgbClr val="1E2A44"/>
                </a:solidFill>
              </a:rPr>
              <a:t>Manipulation</a:t>
            </a:r>
            <a:endParaRPr lang="en-US" sz="43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472"/>
                </a:solidFill>
              </a:rPr>
              <a:t>Read, write, copy, move, organize, and delete files safely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366760" y="960120"/>
            <a:ext cx="658368" cy="6583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394192" y="1179576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80ED"/>
                </a:solidFill>
              </a:rPr>
              <a:t>PY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235440" y="2011680"/>
            <a:ext cx="658368" cy="6583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262872" y="2231136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80ED"/>
                </a:solidFill>
              </a:rPr>
              <a:t>DIR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38160" y="3127248"/>
            <a:ext cx="868680" cy="8686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165592" y="3451860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F80ED"/>
                </a:solidFill>
              </a:rPr>
              <a:t>SAFE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41448" y="4069080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No extra packages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53128" y="4069080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Starter + solutions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Today’s mission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1325880"/>
            <a:ext cx="53035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900" dirty="0">
                <a:solidFill>
                  <a:srgbClr val="111827"/>
                </a:solidFill>
              </a:rPr>
              <a:t>Explain what a path is</a:t>
            </a:r>
            <a:endParaRPr lang="en-US" sz="1900" dirty="0"/>
          </a:p>
          <a:p>
            <a:r>
              <a:rPr lang="en-US" sz="1900" dirty="0">
                <a:solidFill>
                  <a:srgbClr val="111827"/>
                </a:solidFill>
              </a:rPr>
              <a:t>Read text from a file</a:t>
            </a:r>
            <a:endParaRPr lang="en-US" sz="1900" dirty="0"/>
          </a:p>
          <a:p>
            <a:r>
              <a:rPr lang="en-US" sz="1900" dirty="0">
                <a:solidFill>
                  <a:srgbClr val="111827"/>
                </a:solidFill>
              </a:rPr>
              <a:t>Write and append to a file</a:t>
            </a:r>
            <a:endParaRPr lang="en-US" sz="1900" dirty="0"/>
          </a:p>
          <a:p>
            <a:r>
              <a:rPr lang="en-US" sz="1900" dirty="0">
                <a:solidFill>
                  <a:srgbClr val="111827"/>
                </a:solidFill>
              </a:rPr>
              <a:t>Copy, rename, move, and delete safely</a:t>
            </a:r>
            <a:endParaRPr lang="en-US" sz="1900" dirty="0"/>
          </a:p>
          <a:p>
            <a:r>
              <a:rPr lang="en-US" sz="1900" dirty="0">
                <a:solidFill>
                  <a:srgbClr val="111827"/>
                </a:solidFill>
              </a:rPr>
              <a:t>Organize a folder by file type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406640" y="1234440"/>
            <a:ext cx="868680" cy="8686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34072" y="1559052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F80ED"/>
                </a:solidFill>
              </a:rPr>
              <a:t>PATH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503920" y="2057400"/>
            <a:ext cx="868680" cy="8686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531352" y="2382012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F80ED"/>
                </a:solidFill>
              </a:rPr>
              <a:t>READ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0" y="2926080"/>
            <a:ext cx="868680" cy="8686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42632" y="3250692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F80ED"/>
                </a:solidFill>
              </a:rPr>
              <a:t>WRITE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686800" y="3794760"/>
            <a:ext cx="658368" cy="6583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714232" y="4014216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80ED"/>
                </a:solidFill>
              </a:rPr>
              <a:t>BOX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Files are boxes. Paths are addresses.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91440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472"/>
                </a:solidFill>
              </a:rPr>
              <a:t>Python needs the exact address before it can open the box.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60120" y="1508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A44"/>
                </a:solidFill>
              </a:rPr>
              <a:t>project folder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658368" cy="6583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41832" y="2048256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80ED"/>
                </a:solidFill>
              </a:rPr>
              <a:t>DIR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74520" y="1920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</a:rPr>
              <a:t>demo_files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834640" y="2560320"/>
            <a:ext cx="868680" cy="8686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862072" y="2884932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F80ED"/>
                </a:solidFill>
              </a:rPr>
              <a:t>FILE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794760" y="26517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</a:rPr>
              <a:t>story.txt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394960" y="2560320"/>
            <a:ext cx="868680" cy="8686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22392" y="2884932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F80ED"/>
                </a:solidFill>
              </a:rPr>
              <a:t>FILE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55080" y="26517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</a:rPr>
              <a:t>people.csv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675120" y="1828800"/>
            <a:ext cx="658368" cy="6583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702552" y="2048256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80ED"/>
                </a:solidFill>
              </a:rPr>
              <a:t>DIR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635240" y="1920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</a:rPr>
              <a:t>scripts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14400" y="4206240"/>
            <a:ext cx="6583680" cy="1051560"/>
          </a:xfrm>
          <a:prstGeom prst="roundRect">
            <a:avLst>
              <a:gd name="adj" fmla="val 6957"/>
            </a:avLst>
          </a:prstGeom>
          <a:solidFill>
            <a:srgbClr val="0F172A"/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115568" y="4370832"/>
            <a:ext cx="618134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pathlib import Path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 = Path("demo_files/story.txt")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955280" y="44805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80ED"/>
                </a:solidFill>
              </a:rPr>
              <a:t>Path = folder(s) + file name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Safety rules before touching files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91440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472"/>
                </a:solidFill>
              </a:rPr>
              <a:t>This is the most important slide.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1234440"/>
            <a:ext cx="585216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900" dirty="0">
                <a:solidFill>
                  <a:srgbClr val="111827"/>
                </a:solidFill>
              </a:rPr>
              <a:t>Never test delete code on important folders</a:t>
            </a:r>
            <a:endParaRPr lang="en-US" sz="1900" dirty="0"/>
          </a:p>
          <a:p>
            <a:r>
              <a:rPr lang="en-US" sz="1900" dirty="0">
                <a:solidFill>
                  <a:srgbClr val="111827"/>
                </a:solidFill>
              </a:rPr>
              <a:t>Use a practice folder first</a:t>
            </a:r>
            <a:endParaRPr lang="en-US" sz="1900" dirty="0"/>
          </a:p>
          <a:p>
            <a:r>
              <a:rPr lang="en-US" sz="1900" dirty="0">
                <a:solidFill>
                  <a:srgbClr val="111827"/>
                </a:solidFill>
              </a:rPr>
              <a:t>Print what the script will do before doing it</a:t>
            </a:r>
            <a:endParaRPr lang="en-US" sz="1900" dirty="0"/>
          </a:p>
          <a:p>
            <a:r>
              <a:rPr lang="en-US" sz="1900" dirty="0">
                <a:solidFill>
                  <a:srgbClr val="111827"/>
                </a:solidFill>
              </a:rPr>
              <a:t>Prefer copy before move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498080" y="1371600"/>
            <a:ext cx="868680" cy="8686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525512" y="1696212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F80ED"/>
                </a:solidFill>
              </a:rPr>
              <a:t>SAFE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732520" y="2423160"/>
            <a:ext cx="658368" cy="6583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759952" y="2642616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80ED"/>
                </a:solidFill>
              </a:rPr>
              <a:t>OK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35240" y="3429000"/>
            <a:ext cx="658368" cy="6583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662672" y="3648456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80ED"/>
                </a:solidFill>
              </a:rPr>
              <a:t>!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0" y="4434840"/>
            <a:ext cx="3840480" cy="1143000"/>
          </a:xfrm>
          <a:prstGeom prst="roundRect">
            <a:avLst>
              <a:gd name="adj" fmla="val 6400"/>
            </a:avLst>
          </a:prstGeom>
          <a:solidFill>
            <a:srgbClr val="0F172A"/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516368" y="4599432"/>
            <a:ext cx="343814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path.exists():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print("Found it!")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print("Missing file")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Read a text file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91440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472"/>
                </a:solidFill>
              </a:rPr>
              <a:t>Reading means Python opens a file and gives you its contents.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5760720" cy="3108960"/>
          </a:xfrm>
          <a:prstGeom prst="roundRect">
            <a:avLst>
              <a:gd name="adj" fmla="val 2353"/>
            </a:avLst>
          </a:prstGeom>
          <a:solidFill>
            <a:srgbClr val="0F172A"/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78408" y="1581912"/>
            <a:ext cx="5358384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pathlib import Path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 = Path("demo_files/story.txt")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= </a:t>
            </a:r>
            <a:r>
              <a:rPr lang="en-US" sz="1400" dirty="0" err="1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path.read_text</a:t>
            </a: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print(text)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78040" y="1463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A44"/>
                </a:solidFill>
              </a:rPr>
              <a:t>Try it: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178040" y="1920240"/>
            <a:ext cx="4114800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900" dirty="0">
                <a:solidFill>
                  <a:srgbClr val="111827"/>
                </a:solidFill>
              </a:rPr>
              <a:t>Change story.txt to poem.txt</a:t>
            </a:r>
            <a:endParaRPr lang="en-US" sz="1900" dirty="0"/>
          </a:p>
          <a:p>
            <a:r>
              <a:rPr lang="en-US" sz="1900" dirty="0">
                <a:solidFill>
                  <a:srgbClr val="111827"/>
                </a:solidFill>
              </a:rPr>
              <a:t>Print only the first 30 characters</a:t>
            </a:r>
            <a:endParaRPr lang="en-US" sz="1900" dirty="0"/>
          </a:p>
          <a:p>
            <a:r>
              <a:rPr lang="en-US" sz="1900" dirty="0">
                <a:solidFill>
                  <a:srgbClr val="111827"/>
                </a:solidFill>
              </a:rPr>
              <a:t>Count how many letters are in the file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863840" y="4343400"/>
            <a:ext cx="868680" cy="8686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891272" y="4668012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F80ED"/>
                </a:solidFill>
              </a:rPr>
              <a:t>READ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052560" y="4389120"/>
            <a:ext cx="868680" cy="8686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079992" y="4713732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F80ED"/>
                </a:solidFill>
              </a:rPr>
              <a:t>FIND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Write a new file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91440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472"/>
                </a:solidFill>
              </a:rPr>
              <a:t>Writing creates or replaces a file. Great power. Use it carefully.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1371600"/>
            <a:ext cx="6035040" cy="3246120"/>
          </a:xfrm>
          <a:prstGeom prst="roundRect">
            <a:avLst>
              <a:gd name="adj" fmla="val 2254"/>
            </a:avLst>
          </a:prstGeom>
          <a:solidFill>
            <a:srgbClr val="0F172A"/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78408" y="1536192"/>
            <a:ext cx="5632704" cy="2916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pathlib import Path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= Path("demo_files/my_note.txt")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output.write_text("Hello from Python!\n")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print(f"Created {output}")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06640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A44"/>
                </a:solidFill>
              </a:rPr>
              <a:t>Key idea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406640" y="2011680"/>
            <a:ext cx="384048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11827"/>
                </a:solidFill>
              </a:rPr>
              <a:t>write_text() replaces the whole file.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827"/>
                </a:solidFill>
              </a:rPr>
              <a:t>Use a new file name while practicing.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772400" y="3886200"/>
            <a:ext cx="868680" cy="8686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99832" y="4210812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F80ED"/>
                </a:solidFill>
              </a:rPr>
              <a:t>WRITE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915400" y="3977640"/>
            <a:ext cx="658368" cy="6583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942832" y="4197096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80ED"/>
                </a:solidFill>
              </a:rPr>
              <a:t>NEW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 to a file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91440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472"/>
                </a:solidFill>
              </a:rPr>
              <a:t>Appending adds to the end instead of replacing everything.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1325880"/>
            <a:ext cx="6537960" cy="3474720"/>
          </a:xfrm>
          <a:prstGeom prst="roundRect">
            <a:avLst>
              <a:gd name="adj" fmla="val 2105"/>
            </a:avLst>
          </a:prstGeom>
          <a:solidFill>
            <a:srgbClr val="0F172A"/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78408" y="1490472"/>
            <a:ext cx="6135624" cy="3145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pathlib import Path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datetime import datetime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 = Path("demo_files/club_log.txt")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log.open("a") as file: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file.write(f"{datetime.now()}: practiced files\n")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818120" y="1645920"/>
            <a:ext cx="3429000" cy="2103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900" dirty="0">
                <a:solidFill>
                  <a:srgbClr val="111827"/>
                </a:solidFill>
              </a:rPr>
              <a:t>Mode "r" = read</a:t>
            </a:r>
            <a:endParaRPr lang="en-US" sz="1900" dirty="0"/>
          </a:p>
          <a:p>
            <a:r>
              <a:rPr lang="en-US" sz="1900" dirty="0">
                <a:solidFill>
                  <a:srgbClr val="111827"/>
                </a:solidFill>
              </a:rPr>
              <a:t>Mode "w" = write / replace</a:t>
            </a:r>
            <a:endParaRPr lang="en-US" sz="1900" dirty="0"/>
          </a:p>
          <a:p>
            <a:r>
              <a:rPr lang="en-US" sz="1900" dirty="0">
                <a:solidFill>
                  <a:srgbClr val="111827"/>
                </a:solidFill>
              </a:rPr>
              <a:t>Mode "a" = append / add to end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092440" y="3886200"/>
            <a:ext cx="658368" cy="6583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119872" y="4105656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80ED"/>
                </a:solidFill>
              </a:rPr>
              <a:t>+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89720" y="3977640"/>
            <a:ext cx="658368" cy="6583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217152" y="4197096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80ED"/>
                </a:solidFill>
              </a:rPr>
              <a:t>LOG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Copy, rename, and move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91440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472"/>
                </a:solidFill>
              </a:rPr>
              <a:t>These actions change where files live.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1234440"/>
            <a:ext cx="6492240" cy="3840480"/>
          </a:xfrm>
          <a:prstGeom prst="roundRect">
            <a:avLst>
              <a:gd name="adj" fmla="val 1905"/>
            </a:avLst>
          </a:prstGeom>
          <a:solidFill>
            <a:srgbClr val="0F172A"/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78408" y="1399032"/>
            <a:ext cx="6089904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pathlib import Path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shutil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= Path("demo_files/story.txt")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backup = Path("demo_files/story_backup.txt")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shutil.copy2(source, backup)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backup.rename("demo_files/story_copy_renamed.txt")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26680" y="1554480"/>
            <a:ext cx="365760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900" dirty="0">
                <a:solidFill>
                  <a:srgbClr val="111827"/>
                </a:solidFill>
              </a:rPr>
              <a:t>copy2 keeps the original</a:t>
            </a:r>
            <a:endParaRPr lang="en-US" sz="1900" dirty="0"/>
          </a:p>
          <a:p>
            <a:r>
              <a:rPr lang="en-US" sz="1900" dirty="0">
                <a:solidFill>
                  <a:srgbClr val="111827"/>
                </a:solidFill>
              </a:rPr>
              <a:t>rename changes the name or location</a:t>
            </a:r>
            <a:endParaRPr lang="en-US" sz="1900" dirty="0"/>
          </a:p>
          <a:p>
            <a:r>
              <a:rPr lang="en-US" sz="1900" dirty="0">
                <a:solidFill>
                  <a:srgbClr val="111827"/>
                </a:solidFill>
              </a:rPr>
              <a:t>move is useful for organizing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863840" y="3886200"/>
            <a:ext cx="868680" cy="8686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891272" y="4210812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F80ED"/>
                </a:solidFill>
              </a:rPr>
              <a:t>FILE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915400" y="3959352"/>
            <a:ext cx="658368" cy="6583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942832" y="4178808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80ED"/>
                </a:solidFill>
              </a:rPr>
              <a:t>-&gt;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012680" y="3886200"/>
            <a:ext cx="868680" cy="8686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040112" y="4210812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F80ED"/>
                </a:solidFill>
              </a:rPr>
              <a:t>FILE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List everything in a folder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91440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472"/>
                </a:solidFill>
              </a:rPr>
              <a:t>iterdir() lets Python loop through files and folders.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1325880"/>
            <a:ext cx="6080760" cy="3383280"/>
          </a:xfrm>
          <a:prstGeom prst="roundRect">
            <a:avLst>
              <a:gd name="adj" fmla="val 2162"/>
            </a:avLst>
          </a:prstGeom>
          <a:solidFill>
            <a:srgbClr val="0F172A"/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78408" y="1490472"/>
            <a:ext cx="5678424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pathlib import Path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folder = Path("demo_files")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item in folder.iterdir():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kind = "folder" if item.is_dir() else "file"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print(f"{item.name}: {kind}")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60920" y="1600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A44"/>
                </a:solidFill>
              </a:rPr>
              <a:t>Mini challenge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60920" y="2057400"/>
            <a:ext cx="384048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900" dirty="0">
                <a:solidFill>
                  <a:srgbClr val="111827"/>
                </a:solidFill>
              </a:rPr>
              <a:t>Print only .txt files</a:t>
            </a:r>
            <a:endParaRPr lang="en-US" sz="1900" dirty="0"/>
          </a:p>
          <a:p>
            <a:r>
              <a:rPr lang="en-US" sz="1900" dirty="0">
                <a:solidFill>
                  <a:srgbClr val="111827"/>
                </a:solidFill>
              </a:rPr>
              <a:t>Print only folders</a:t>
            </a:r>
            <a:endParaRPr lang="en-US" sz="1900" dirty="0"/>
          </a:p>
          <a:p>
            <a:r>
              <a:rPr lang="en-US" sz="1900" dirty="0">
                <a:solidFill>
                  <a:srgbClr val="111827"/>
                </a:solidFill>
              </a:rPr>
              <a:t>Count how many files are there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818120" y="4160520"/>
            <a:ext cx="658368" cy="6583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845552" y="4379976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80ED"/>
                </a:solidFill>
              </a:rPr>
              <a:t>DIR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15400" y="4187952"/>
            <a:ext cx="868680" cy="8686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942832" y="4512564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F80ED"/>
                </a:solidFill>
              </a:rPr>
              <a:t>LOOP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Read CSV files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91440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472"/>
                </a:solidFill>
              </a:rPr>
              <a:t>CSV files are tables saved as plain text.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6583680" cy="3794760"/>
          </a:xfrm>
          <a:prstGeom prst="roundRect">
            <a:avLst>
              <a:gd name="adj" fmla="val 1928"/>
            </a:avLst>
          </a:prstGeom>
          <a:solidFill>
            <a:srgbClr val="0F172A"/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78408" y="1581912"/>
            <a:ext cx="6181344" cy="34655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csv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pathlib import Path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 = Path("demo_files/people.csv")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</a:t>
            </a:r>
            <a:r>
              <a:rPr lang="en-US" sz="1400" dirty="0" err="1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path.open</a:t>
            </a: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as file: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reader = csv.DictReader(file)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row in reader: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print(f"{row['name']} works with {row['team']}")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26680" y="15544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F80ED"/>
                </a:solidFill>
              </a:rPr>
              <a:t>CSV = Comma-Separated Values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001000" y="2834640"/>
            <a:ext cx="658368" cy="6583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028432" y="3054096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80ED"/>
                </a:solidFill>
              </a:rPr>
              <a:t>CSV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0" y="2880360"/>
            <a:ext cx="868680" cy="8686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71432" y="3204972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F80ED"/>
                </a:solidFill>
              </a:rPr>
              <a:t>DATA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Challenge: organize a messy folder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383280" y="2743200"/>
            <a:ext cx="2011680" cy="0"/>
          </a:xfrm>
          <a:prstGeom prst="line">
            <a:avLst/>
          </a:prstGeom>
          <a:noFill/>
          <a:ln w="25400">
            <a:solidFill>
              <a:srgbClr val="5B647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69280" y="2743200"/>
            <a:ext cx="1005840" cy="0"/>
          </a:xfrm>
          <a:prstGeom prst="line">
            <a:avLst/>
          </a:prstGeom>
          <a:noFill/>
          <a:ln w="25400">
            <a:solidFill>
              <a:srgbClr val="5B647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669280" y="2743200"/>
            <a:ext cx="1005840" cy="0"/>
          </a:xfrm>
          <a:prstGeom prst="line">
            <a:avLst/>
          </a:prstGeom>
          <a:noFill/>
          <a:ln w="25400">
            <a:solidFill>
              <a:srgbClr val="5B647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669280" y="2743200"/>
            <a:ext cx="1005840" cy="914400"/>
          </a:xfrm>
          <a:prstGeom prst="line">
            <a:avLst/>
          </a:prstGeom>
          <a:noFill/>
          <a:ln w="25400">
            <a:solidFill>
              <a:srgbClr val="5B647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88720" y="2148840"/>
            <a:ext cx="658368" cy="6583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16152" y="2368296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80ED"/>
                </a:solidFill>
              </a:rPr>
              <a:t>🗂️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3154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</a:rPr>
              <a:t>messy_folder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949440" y="1508760"/>
            <a:ext cx="868680" cy="8686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976872" y="1833372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F80ED"/>
                </a:solidFill>
              </a:rPr>
              <a:t>FILE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909560" y="1645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</a:rPr>
              <a:t>text_files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949440" y="2514600"/>
            <a:ext cx="868680" cy="8686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976872" y="2839212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F80ED"/>
                </a:solidFill>
              </a:rPr>
              <a:t>DATA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909560" y="2651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</a:rPr>
              <a:t>csv_files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949440" y="3520440"/>
            <a:ext cx="658368" cy="6583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976872" y="3739896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80ED"/>
                </a:solidFill>
              </a:rPr>
              <a:t>IMG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909560" y="3657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</a:rPr>
              <a:t>image_files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22960" y="4754880"/>
            <a:ext cx="10332720" cy="960120"/>
          </a:xfrm>
          <a:prstGeom prst="roundRect">
            <a:avLst>
              <a:gd name="adj" fmla="val 7619"/>
            </a:avLst>
          </a:prstGeom>
          <a:solidFill>
            <a:srgbClr val="0F172A"/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24128" y="4919472"/>
            <a:ext cx="993038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file_path in source.iterdir():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folder_name = folders[file_path.suffix]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target_folder.mkdir(exist_ok=True)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shutil.copy2(file_path, target_folder / file_path.name)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Common mistakes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91440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472"/>
                </a:solidFill>
              </a:rPr>
              <a:t>Use these as live debugging moments.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1325880"/>
            <a:ext cx="6492240" cy="3977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900" dirty="0">
                <a:solidFill>
                  <a:srgbClr val="111827"/>
                </a:solidFill>
              </a:rPr>
              <a:t>FileNotFoundError: wrong folder or file name</a:t>
            </a:r>
            <a:endParaRPr lang="en-US" sz="1900" dirty="0"/>
          </a:p>
          <a:p>
            <a:r>
              <a:rPr lang="en-US" sz="1900" dirty="0">
                <a:solidFill>
                  <a:srgbClr val="111827"/>
                </a:solidFill>
              </a:rPr>
              <a:t>PermissionError: file is open or protected</a:t>
            </a:r>
            <a:endParaRPr lang="en-US" sz="1900" dirty="0"/>
          </a:p>
          <a:p>
            <a:r>
              <a:rPr lang="en-US" sz="1900" dirty="0">
                <a:solidFill>
                  <a:srgbClr val="111827"/>
                </a:solidFill>
              </a:rPr>
              <a:t>Accidentally overwriting: used write mode instead of append</a:t>
            </a:r>
            <a:endParaRPr lang="en-US" sz="1900" dirty="0"/>
          </a:p>
          <a:p>
            <a:r>
              <a:rPr lang="en-US" sz="1900" dirty="0">
                <a:solidFill>
                  <a:srgbClr val="111827"/>
                </a:solidFill>
              </a:rPr>
              <a:t>Backslashes on Windows: pathlib helps avoid path trouble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635240" y="1828800"/>
            <a:ext cx="3566160" cy="822960"/>
          </a:xfrm>
          <a:prstGeom prst="roundRect">
            <a:avLst>
              <a:gd name="adj" fmla="val 8889"/>
            </a:avLst>
          </a:prstGeom>
          <a:solidFill>
            <a:srgbClr val="0F172A"/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836408" y="1993392"/>
            <a:ext cx="31638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Good cross-platform style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 = Path("demo_files") / "story.txt"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183880" y="3154680"/>
            <a:ext cx="658368" cy="6583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11312" y="3374136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80ED"/>
                </a:solidFill>
              </a:rPr>
              <a:t>BUG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89720" y="3200400"/>
            <a:ext cx="658368" cy="6583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217152" y="3419856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80ED"/>
                </a:solidFill>
              </a:rPr>
              <a:t>FIX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A44"/>
                </a:solidFill>
              </a:rPr>
              <a:t>In your own words: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</a:rPr>
              <a:t>What is the difference between read, write, append, copy, move, and delete?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8961120" y="1508760"/>
            <a:ext cx="868680" cy="8686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988552" y="1833372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F80ED"/>
                </a:solidFill>
              </a:rPr>
              <a:t>EXIT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829800" y="2743200"/>
            <a:ext cx="868680" cy="8686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857232" y="3067812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F80ED"/>
                </a:solidFill>
              </a:rPr>
              <a:t>TALK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837</Words>
  <Application>Microsoft Office PowerPoint</Application>
  <PresentationFormat>Widescreen</PresentationFormat>
  <Paragraphs>167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File Manipulation</dc:title>
  <dc:subject>Python file manipulation lesson for computer club</dc:subject>
  <dc:creator>OpenAI</dc:creator>
  <cp:lastModifiedBy>Mark Theisen</cp:lastModifiedBy>
  <cp:revision>2</cp:revision>
  <dcterms:created xsi:type="dcterms:W3CDTF">2026-06-10T15:31:10Z</dcterms:created>
  <dcterms:modified xsi:type="dcterms:W3CDTF">2026-06-10T15:48:44Z</dcterms:modified>
</cp:coreProperties>
</file>